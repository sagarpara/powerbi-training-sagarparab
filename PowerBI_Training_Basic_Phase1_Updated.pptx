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8"/>
  </p:notesMasterIdLst>
  <p:handoutMasterIdLst>
    <p:handoutMasterId r:id="rId2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  <p:sldId id="323" r:id="rId18"/>
    <p:sldId id="324" r:id="rId19"/>
    <p:sldId id="325" r:id="rId20"/>
    <p:sldId id="327" r:id="rId21"/>
    <p:sldId id="328" r:id="rId22"/>
    <p:sldId id="329" r:id="rId23"/>
    <p:sldId id="330" r:id="rId24"/>
    <p:sldId id="331" r:id="rId25"/>
    <p:sldId id="332" r:id="rId26"/>
    <p:sldId id="333" r:id="rId2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3ACE2E-E568-4361-A078-1E2E2EC8CBF5}">
          <p14:sldIdLst>
            <p14:sldId id="312"/>
            <p14:sldId id="304"/>
            <p14:sldId id="307"/>
            <p14:sldId id="281"/>
            <p14:sldId id="282"/>
            <p14:sldId id="314"/>
            <p14:sldId id="315"/>
            <p14:sldId id="317"/>
            <p14:sldId id="318"/>
            <p14:sldId id="319"/>
            <p14:sldId id="321"/>
            <p14:sldId id="322"/>
            <p14:sldId id="297"/>
            <p14:sldId id="323"/>
            <p14:sldId id="324"/>
            <p14:sldId id="325"/>
            <p14:sldId id="327"/>
            <p14:sldId id="328"/>
            <p14:sldId id="329"/>
            <p14:sldId id="330"/>
            <p14:sldId id="331"/>
            <p14:sldId id="332"/>
            <p14:sldId id="333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62" d="100"/>
          <a:sy n="62" d="100"/>
        </p:scale>
        <p:origin x="828" y="4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t>Power BI Fundamentals – Level 1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t>• Understand BI concepts</a:t>
            </a:r>
          </a:p>
          <a:p>
            <a:r>
              <a:t>• Build Power BI reports</a:t>
            </a:r>
          </a:p>
          <a:p>
            <a:r>
              <a:t>• Create dashboards</a:t>
            </a:r>
          </a:p>
          <a:p>
            <a:r>
              <a:t>• Publish &amp; share reports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t>What is Business Intelligence?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t>MIS vs BI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t>MIS: Static reports</a:t>
            </a:r>
          </a:p>
          <a:p>
            <a:r>
              <a:t>BI: Interactive dashboards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t>Why Power BI?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t>• Microsoft BI tool</a:t>
            </a:r>
          </a:p>
          <a:p>
            <a:r>
              <a:t>• Easy integration</a:t>
            </a:r>
          </a:p>
          <a:p>
            <a:r>
              <a:t>• Strong visualization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t>Power BI Ecosystem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243159" y="4171309"/>
            <a:ext cx="2342576" cy="1123366"/>
          </a:xfrm>
        </p:spPr>
        <p:txBody>
          <a:bodyPr/>
          <a:lstStyle/>
          <a:p>
            <a:pPr algn="l"/>
            <a:r>
              <a:rPr dirty="0"/>
              <a:t>• Power BI Desktop</a:t>
            </a:r>
          </a:p>
          <a:p>
            <a:pPr algn="l"/>
            <a:r>
              <a:rPr dirty="0"/>
              <a:t>• Power BI Service</a:t>
            </a:r>
          </a:p>
          <a:p>
            <a:pPr algn="l"/>
            <a:r>
              <a:rPr dirty="0"/>
              <a:t>• Power BI Mobile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t>Power BI Licenses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399" y="2650733"/>
            <a:ext cx="1325368" cy="1335640"/>
          </a:xfrm>
        </p:spPr>
        <p:txBody>
          <a:bodyPr/>
          <a:lstStyle/>
          <a:p>
            <a:pPr algn="l"/>
            <a:r>
              <a:rPr dirty="0"/>
              <a:t>• Free</a:t>
            </a:r>
          </a:p>
          <a:p>
            <a:pPr algn="l"/>
            <a:r>
              <a:rPr dirty="0"/>
              <a:t>• Pro</a:t>
            </a:r>
          </a:p>
          <a:p>
            <a:pPr algn="l"/>
            <a:r>
              <a:rPr dirty="0"/>
              <a:t>• Premium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t>Power BI Project Lifecycle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t>• Requirement</a:t>
            </a:r>
          </a:p>
          <a:p>
            <a:r>
              <a:t>• Data</a:t>
            </a:r>
          </a:p>
          <a:p>
            <a:r>
              <a:t>• Model</a:t>
            </a:r>
          </a:p>
          <a:p>
            <a:r>
              <a:t>• Visuals</a:t>
            </a:r>
          </a:p>
          <a:p>
            <a:r>
              <a:t>• Publish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t>Data 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t>• Excel</a:t>
            </a:r>
          </a:p>
          <a:p>
            <a:r>
              <a:t>• CSV</a:t>
            </a:r>
          </a:p>
          <a:p>
            <a:r>
              <a:t>• SQL</a:t>
            </a:r>
          </a:p>
          <a:p>
            <a:r>
              <a:t>• Web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t>Power Query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t>• Data cleaning</a:t>
            </a:r>
          </a:p>
          <a:p>
            <a:r>
              <a:t>• Transformation</a:t>
            </a:r>
          </a:p>
          <a:p>
            <a:r>
              <a:t>• Automation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t>Common Data Issues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t>• Blanks</a:t>
            </a:r>
          </a:p>
          <a:p>
            <a:r>
              <a:t>• Duplicates</a:t>
            </a:r>
          </a:p>
          <a:p>
            <a:r>
              <a:t>• Wrong data types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t>Merge vs Append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275372977"/>
              </p:ext>
            </p:extLst>
          </p:nvPr>
        </p:nvGraphicFramePr>
        <p:xfrm>
          <a:off x="914400" y="4070064"/>
          <a:ext cx="10510836" cy="21945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246114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246114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246114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246114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246114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246114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" y="3097658"/>
            <a:ext cx="3411020" cy="471489"/>
          </a:xfrm>
        </p:spPr>
        <p:txBody>
          <a:bodyPr/>
          <a:lstStyle/>
          <a:p>
            <a:pPr algn="l"/>
            <a:r>
              <a:rPr dirty="0"/>
              <a:t>Append = Stack data</a:t>
            </a:r>
          </a:p>
          <a:p>
            <a:pPr algn="l"/>
            <a:r>
              <a:rPr dirty="0"/>
              <a:t>Merge = Join data</a:t>
            </a:r>
          </a:p>
        </p:txBody>
      </p:sp>
      <p:sp>
        <p:nvSpPr>
          <p:cNvPr id="4" name="Flowchart: Summing Junction 3">
            <a:extLst>
              <a:ext uri="{FF2B5EF4-FFF2-40B4-BE49-F238E27FC236}">
                <a16:creationId xmlns:a16="http://schemas.microsoft.com/office/drawing/2014/main" id="{AB34BA50-111D-E1B9-42A6-9D4F31BD40E8}"/>
              </a:ext>
            </a:extLst>
          </p:cNvPr>
          <p:cNvSpPr/>
          <p:nvPr/>
        </p:nvSpPr>
        <p:spPr>
          <a:xfrm>
            <a:off x="2804845" y="4900772"/>
            <a:ext cx="6791218" cy="1119883"/>
          </a:xfrm>
          <a:prstGeom prst="flowChartSummingJunc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t>Data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t>• Relationships</a:t>
            </a:r>
          </a:p>
          <a:p>
            <a:r>
              <a:t>• Performance</a:t>
            </a:r>
          </a:p>
          <a:p>
            <a:r>
              <a:t>• Accuracy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19B4-F81B-04C1-FD8B-F2D59BEA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&amp; Dimension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739989-F729-22E9-4971-7D0486394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EB8D-D034-667A-2360-84E9E2F26F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Fact Table</a:t>
            </a:r>
            <a:endParaRPr lang="en-US" dirty="0"/>
          </a:p>
          <a:p>
            <a:r>
              <a:rPr lang="en-US" dirty="0"/>
              <a:t>Transactions</a:t>
            </a:r>
          </a:p>
          <a:p>
            <a:r>
              <a:rPr lang="en-US" dirty="0"/>
              <a:t>Sales, quantity, amount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045C4C-9F14-E62B-3CE2-0AF7802063C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/>
              <a:t>Dimension Table</a:t>
            </a:r>
            <a:endParaRPr lang="en-US" dirty="0"/>
          </a:p>
          <a:p>
            <a:r>
              <a:rPr lang="en-US" dirty="0"/>
              <a:t>Product, Customer, Date, Region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344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6C6A-8A25-45C3-2D27-CAAB4862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25BE0-9A3E-6EB6-233C-B7D4B602F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7058280-F279-9E29-91D9-000470FE58D7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One-to-Many (most common)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Direction matters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many-to-many initially</a:t>
            </a:r>
          </a:p>
        </p:txBody>
      </p:sp>
    </p:spTree>
    <p:extLst>
      <p:ext uri="{BB962C8B-B14F-4D97-AF65-F5344CB8AC3E}">
        <p14:creationId xmlns:p14="http://schemas.microsoft.com/office/powerpoint/2010/main" val="2243018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8DA2-D625-6549-4606-5BC3F04B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FDA90D-1919-2E9F-C1DE-E7FA57E86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C0F11B-6487-ECCE-A7C5-C4F434351415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Expressions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 language for Power BI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calculations and KPIs</a:t>
            </a:r>
          </a:p>
        </p:txBody>
      </p:sp>
    </p:spTree>
    <p:extLst>
      <p:ext uri="{BB962C8B-B14F-4D97-AF65-F5344CB8AC3E}">
        <p14:creationId xmlns:p14="http://schemas.microsoft.com/office/powerpoint/2010/main" val="1488167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F9A6-A984-90FD-B9E0-66FEC3D5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Calculated Column vs Measure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E34F3-1BC6-5B7A-97A6-30F71E922E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Calculated Column</a:t>
            </a:r>
            <a:endParaRPr lang="en-US" dirty="0"/>
          </a:p>
          <a:p>
            <a:r>
              <a:rPr lang="en-US" dirty="0"/>
              <a:t>Row level</a:t>
            </a:r>
          </a:p>
          <a:p>
            <a:r>
              <a:rPr lang="en-US" dirty="0"/>
              <a:t>Stored in model</a:t>
            </a:r>
          </a:p>
          <a:p>
            <a:r>
              <a:rPr lang="en-US" b="1" dirty="0"/>
              <a:t>Measure</a:t>
            </a:r>
            <a:endParaRPr lang="en-US" dirty="0"/>
          </a:p>
          <a:p>
            <a:r>
              <a:rPr lang="en-US" dirty="0"/>
              <a:t>Calculated at run time</a:t>
            </a:r>
          </a:p>
          <a:p>
            <a:r>
              <a:rPr lang="en-US" dirty="0"/>
              <a:t>Preferred for KPIs</a:t>
            </a:r>
          </a:p>
          <a:p>
            <a:r>
              <a:rPr lang="en-US" dirty="0"/>
              <a:t>👉 Always prefer </a:t>
            </a:r>
            <a:r>
              <a:rPr lang="en-US" b="1" dirty="0"/>
              <a:t>Measures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46BCD-57F8-80D3-653B-D40AD2CC9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56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46754-D4EF-09EA-4DF1-4A72F144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DAX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5C8C4-C694-EC2E-E9CF-44C3495BA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B6E8CF8-0CC2-3829-FD47-3881691FB74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 = SUM(Sales[SalesAmount])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Orders = COUNT(Sales[OrderID])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 Sales = AVERAGE(Sales[SalesAmount])</a:t>
            </a:r>
          </a:p>
        </p:txBody>
      </p:sp>
    </p:spTree>
    <p:extLst>
      <p:ext uri="{BB962C8B-B14F-4D97-AF65-F5344CB8AC3E}">
        <p14:creationId xmlns:p14="http://schemas.microsoft.com/office/powerpoint/2010/main" val="2470712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B5C5-B123-1B7D-0DE3-2A7B7A68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CALCULATE?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E306D-B5BA-6AB7-14C0-DD8CB1C7F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00C0C6-2196-A25F-7284-EFF8E3B05EA0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Modifies filter context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powerful DAX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almost every advanced report</a:t>
            </a:r>
          </a:p>
        </p:txBody>
      </p:sp>
    </p:spTree>
    <p:extLst>
      <p:ext uri="{BB962C8B-B14F-4D97-AF65-F5344CB8AC3E}">
        <p14:creationId xmlns:p14="http://schemas.microsoft.com/office/powerpoint/2010/main" val="4205317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12AD8-7834-6D56-9474-4CEAC508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Visual Best Practices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A01E6-1246-A3E5-642F-3242DAF36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19368C-69E3-445C-E049-6F1FC68BAC6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clutter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page = one 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slicers wisely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consistent color theme</a:t>
            </a:r>
          </a:p>
        </p:txBody>
      </p:sp>
    </p:spTree>
    <p:extLst>
      <p:ext uri="{BB962C8B-B14F-4D97-AF65-F5344CB8AC3E}">
        <p14:creationId xmlns:p14="http://schemas.microsoft.com/office/powerpoint/2010/main" val="677367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3FE-AE10-D49D-729E-A56B7F2E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Publishing Reports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67CD6-1046-4A53-1C4F-D79029549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3ADF56C-41BD-004D-077F-C4E1EE19BB9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914400" y="3669633"/>
            <a:ext cx="35477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Create workspace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Publish from Desktop to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 with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access</a:t>
            </a:r>
          </a:p>
        </p:txBody>
      </p:sp>
    </p:spTree>
    <p:extLst>
      <p:ext uri="{BB962C8B-B14F-4D97-AF65-F5344CB8AC3E}">
        <p14:creationId xmlns:p14="http://schemas.microsoft.com/office/powerpoint/2010/main" val="444956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B8C3-1C16-347A-7DEC-E7C257770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1667387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DCD75-331B-17B4-8686-52375F0A5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2907587"/>
            <a:ext cx="5715000" cy="31406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import &amp; cleaning</a:t>
            </a:r>
          </a:p>
          <a:p>
            <a:r>
              <a:rPr lang="en-US" dirty="0"/>
              <a:t>Data modeling basics</a:t>
            </a:r>
          </a:p>
          <a:p>
            <a:r>
              <a:rPr lang="en-US" dirty="0"/>
              <a:t>DAX fundamentals</a:t>
            </a:r>
          </a:p>
          <a:p>
            <a:r>
              <a:rPr lang="en-US" dirty="0"/>
              <a:t>Visual design</a:t>
            </a:r>
          </a:p>
          <a:p>
            <a:r>
              <a:rPr lang="en-US" dirty="0"/>
              <a:t>Publishing &amp; sharing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👉 Ready for </a:t>
            </a:r>
            <a:r>
              <a:rPr lang="en-US" b="1" dirty="0"/>
              <a:t>Intermediate Power BI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532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EBBE-C769-3FAB-7EB8-CC9E4A9C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3ADA4A-49C4-C8E7-94C0-025DDDF1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3065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{F310C805-02FA-401C-B4B2-EDDE9DFF3543}TF8a9b5915-b8c7-461e-8cdd-693d48b5e32371f7b7e2_win32-4bf0b9a2ea37</Template>
  <TotalTime>29</TotalTime>
  <Words>357</Words>
  <Application>Microsoft Office PowerPoint</Application>
  <PresentationFormat>Widescreen</PresentationFormat>
  <Paragraphs>131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Calibri</vt:lpstr>
      <vt:lpstr>Sabon Next LT</vt:lpstr>
      <vt:lpstr>Custom</vt:lpstr>
      <vt:lpstr>Power BI Fundamentals – Level 1</vt:lpstr>
      <vt:lpstr>Course Objectives</vt:lpstr>
      <vt:lpstr>What is Business Intelligence?</vt:lpstr>
      <vt:lpstr>MIS vs BI</vt:lpstr>
      <vt:lpstr>Why Power BI?</vt:lpstr>
      <vt:lpstr>Power BI Ecosystem</vt:lpstr>
      <vt:lpstr>Power BI Licenses</vt:lpstr>
      <vt:lpstr>Power BI Project Lifecycle</vt:lpstr>
      <vt:lpstr>Data Sources</vt:lpstr>
      <vt:lpstr>Power Query</vt:lpstr>
      <vt:lpstr>Common Data Issues</vt:lpstr>
      <vt:lpstr>Merge vs Append</vt:lpstr>
      <vt:lpstr>Data Modeling</vt:lpstr>
      <vt:lpstr>Fact &amp; Dimension Tables</vt:lpstr>
      <vt:lpstr>Relationships</vt:lpstr>
      <vt:lpstr>DAX</vt:lpstr>
      <vt:lpstr>Calculated Column vs Measure</vt:lpstr>
      <vt:lpstr>Basic DAX Examples</vt:lpstr>
      <vt:lpstr>What is CALCULATE?</vt:lpstr>
      <vt:lpstr>Visual Best Practices</vt:lpstr>
      <vt:lpstr>Publishing Reports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Sagar Parab</dc:creator>
  <cp:lastModifiedBy>Sagar Parab</cp:lastModifiedBy>
  <cp:revision>9</cp:revision>
  <dcterms:created xsi:type="dcterms:W3CDTF">2025-12-30T08:17:02Z</dcterms:created>
  <dcterms:modified xsi:type="dcterms:W3CDTF">2025-12-30T08:57:38Z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