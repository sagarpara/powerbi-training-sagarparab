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0"/>
  </p:notesMasterIdLst>
  <p:handoutMasterIdLst>
    <p:handoutMasterId r:id="rId31"/>
  </p:handoutMasterIdLst>
  <p:sldIdLst>
    <p:sldId id="312" r:id="rId5"/>
    <p:sldId id="304" r:id="rId6"/>
    <p:sldId id="334" r:id="rId7"/>
    <p:sldId id="307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  <p:sldId id="323" r:id="rId18"/>
    <p:sldId id="324" r:id="rId19"/>
    <p:sldId id="325" r:id="rId20"/>
    <p:sldId id="327" r:id="rId21"/>
    <p:sldId id="328" r:id="rId22"/>
    <p:sldId id="329" r:id="rId23"/>
    <p:sldId id="330" r:id="rId24"/>
    <p:sldId id="331" r:id="rId25"/>
    <p:sldId id="332" r:id="rId26"/>
    <p:sldId id="335" r:id="rId27"/>
    <p:sldId id="333" r:id="rId28"/>
    <p:sldId id="336" r:id="rId2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3ACE2E-E568-4361-A078-1E2E2EC8CBF5}">
          <p14:sldIdLst>
            <p14:sldId id="312"/>
            <p14:sldId id="304"/>
            <p14:sldId id="334"/>
            <p14:sldId id="307"/>
            <p14:sldId id="282"/>
            <p14:sldId id="314"/>
            <p14:sldId id="315"/>
            <p14:sldId id="317"/>
            <p14:sldId id="318"/>
            <p14:sldId id="319"/>
            <p14:sldId id="321"/>
            <p14:sldId id="322"/>
            <p14:sldId id="297"/>
            <p14:sldId id="323"/>
            <p14:sldId id="324"/>
            <p14:sldId id="325"/>
            <p14:sldId id="327"/>
            <p14:sldId id="328"/>
            <p14:sldId id="329"/>
            <p14:sldId id="330"/>
            <p14:sldId id="331"/>
            <p14:sldId id="332"/>
            <p14:sldId id="335"/>
            <p14:sldId id="333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gar Parab" initials="SP" lastIdx="1" clrIdx="0">
    <p:extLst>
      <p:ext uri="{19B8F6BF-5375-455C-9EA6-DF929625EA0E}">
        <p15:presenceInfo xmlns:p15="http://schemas.microsoft.com/office/powerpoint/2012/main" userId="S::SagarParab@SagarAnalytics754.onmicrosoft.com::0afc1cfe-4594-4a96-a133-a9d83dabeb9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490" autoAdjust="0"/>
  </p:normalViewPr>
  <p:slideViewPr>
    <p:cSldViewPr snapToGrid="0" snapToObjects="1">
      <p:cViewPr varScale="1">
        <p:scale>
          <a:sx n="56" d="100"/>
          <a:sy n="56" d="100"/>
        </p:scale>
        <p:origin x="106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9" d="100"/>
          <a:sy n="19" d="100"/>
        </p:scale>
        <p:origin x="2980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“Welcome everyone. I’m Sagar Parab, with 14+ years in MIS and analytics and 4+ years in Power BI.</a:t>
            </a:r>
            <a:br>
              <a:rPr lang="en-US" dirty="0"/>
            </a:br>
            <a:r>
              <a:rPr lang="en-US" dirty="0"/>
              <a:t>This course is designed from real project experience, not theory.</a:t>
            </a:r>
            <a:br>
              <a:rPr lang="en-US" dirty="0"/>
            </a:br>
            <a:r>
              <a:rPr lang="en-US" dirty="0"/>
              <a:t>By the end of this phase, you’ll be confident building Power BI reports on your own.”</a:t>
            </a:r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“This phase focuses on fundamentals.</a:t>
            </a:r>
            <a:br>
              <a:rPr lang="en-US" dirty="0"/>
            </a:br>
            <a:r>
              <a:rPr lang="en-US" dirty="0"/>
              <a:t>We’ll understand BI concepts, build reports, create dashboards, and publish them.</a:t>
            </a:r>
            <a:br>
              <a:rPr lang="en-US" dirty="0"/>
            </a:br>
            <a:r>
              <a:rPr lang="en-US" dirty="0"/>
              <a:t>This is the foundation — everything advanced depends on this.”</a:t>
            </a:r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“This slide shows evolution from MIS to BI to Power BI.</a:t>
            </a:r>
            <a:br>
              <a:rPr lang="en-US" dirty="0"/>
            </a:br>
            <a:r>
              <a:rPr lang="en-US" dirty="0"/>
              <a:t>This mindset is critical for professional growth.”</a:t>
            </a:r>
          </a:p>
        </p:txBody>
      </p:sp>
    </p:spTree>
    <p:extLst>
      <p:ext uri="{BB962C8B-B14F-4D97-AF65-F5344CB8AC3E}">
        <p14:creationId xmlns:p14="http://schemas.microsoft.com/office/powerpoint/2010/main" val="3580234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“BI is about converting raw data into insights.</a:t>
            </a:r>
            <a:br>
              <a:rPr lang="en-US" dirty="0"/>
            </a:br>
            <a:r>
              <a:rPr lang="en-US" dirty="0"/>
              <a:t>In MIS, we mostly generate reports.</a:t>
            </a:r>
            <a:br>
              <a:rPr lang="en-US" dirty="0"/>
            </a:br>
            <a:r>
              <a:rPr lang="en-US" dirty="0"/>
              <a:t>In BI, we enable decision-making.”</a:t>
            </a:r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“Power BI is widely used because it integrates easily with Excel and databases,</a:t>
            </a:r>
            <a:br>
              <a:rPr lang="en-US" dirty="0"/>
            </a:br>
            <a:r>
              <a:rPr lang="en-US" dirty="0"/>
              <a:t>and business users can understand it quickly.”</a:t>
            </a:r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“Desktop is where we build reports.</a:t>
            </a:r>
            <a:br>
              <a:rPr lang="en-US" dirty="0"/>
            </a:br>
            <a:r>
              <a:rPr lang="en-US" dirty="0"/>
              <a:t>Service is where we publish and share.</a:t>
            </a:r>
            <a:br>
              <a:rPr lang="en-US" dirty="0"/>
            </a:br>
            <a:r>
              <a:rPr lang="en-US" dirty="0"/>
              <a:t>Mobile allows access anywhere.”</a:t>
            </a:r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“Most confusion happens here.</a:t>
            </a:r>
            <a:br>
              <a:rPr lang="en-US" dirty="0"/>
            </a:br>
            <a:r>
              <a:rPr lang="en-US" dirty="0"/>
              <a:t>Free is for learning, Pro is for collaboration, Premium is for enterprises.</a:t>
            </a:r>
            <a:br>
              <a:rPr lang="en-US" dirty="0"/>
            </a:br>
            <a:r>
              <a:rPr lang="en-US" dirty="0"/>
              <a:t>In most real projects, Pro is enough.”</a:t>
            </a:r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“This is the typical lifecycle in real companies.</a:t>
            </a:r>
            <a:br>
              <a:rPr lang="en-US" dirty="0"/>
            </a:br>
            <a:r>
              <a:rPr lang="en-US" dirty="0"/>
              <a:t>Notice — visuals come </a:t>
            </a:r>
            <a:r>
              <a:rPr lang="en-US" i="1" dirty="0"/>
              <a:t>after</a:t>
            </a:r>
            <a:r>
              <a:rPr lang="en-US" dirty="0"/>
              <a:t> data cleaning and modeling.”</a:t>
            </a:r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“Power BI supports almost all data sources you’ll see in real projects — Excel, SQL, web, SharePoint.”</a:t>
            </a:r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“Power Query is where most real work happens.</a:t>
            </a:r>
            <a:br>
              <a:rPr lang="en-US" dirty="0"/>
            </a:br>
            <a:r>
              <a:rPr lang="en-US" dirty="0"/>
              <a:t>If your data is clean here, reporting becomes easy.”</a:t>
            </a:r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“In real life, data is never clean.</a:t>
            </a:r>
            <a:br>
              <a:rPr lang="en-US" dirty="0"/>
            </a:br>
            <a:r>
              <a:rPr lang="en-US" dirty="0"/>
              <a:t>Power Query exists to fix these problems.”</a:t>
            </a:r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“Append is like stacking data.</a:t>
            </a:r>
            <a:br>
              <a:rPr lang="en-US" dirty="0"/>
            </a:br>
            <a:r>
              <a:rPr lang="en-US" dirty="0"/>
              <a:t>Merge is like joining tables — similar to SQL joins.”</a:t>
            </a:r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“Good data modeling improves performance and accuracy.</a:t>
            </a:r>
            <a:br>
              <a:rPr lang="en-US" dirty="0"/>
            </a:br>
            <a:r>
              <a:rPr lang="en-US" dirty="0"/>
              <a:t>Bad modeling creates wrong numbers.”</a:t>
            </a:r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“Fact tables store transactions.</a:t>
            </a:r>
            <a:br>
              <a:rPr lang="en-US" dirty="0"/>
            </a:br>
            <a:r>
              <a:rPr lang="en-US" dirty="0"/>
              <a:t>Dimension tables provide context like product or date.”</a:t>
            </a:r>
          </a:p>
        </p:txBody>
      </p:sp>
    </p:spTree>
    <p:extLst>
      <p:ext uri="{BB962C8B-B14F-4D97-AF65-F5344CB8AC3E}">
        <p14:creationId xmlns:p14="http://schemas.microsoft.com/office/powerpoint/2010/main" val="1799354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“One-to-many is the most common.</a:t>
            </a:r>
            <a:br>
              <a:rPr lang="en-US" dirty="0"/>
            </a:br>
            <a:r>
              <a:rPr lang="en-US" dirty="0"/>
              <a:t>Avoid many-to-many in the beginning — it creates confusion.”</a:t>
            </a:r>
          </a:p>
        </p:txBody>
      </p:sp>
    </p:spTree>
    <p:extLst>
      <p:ext uri="{BB962C8B-B14F-4D97-AF65-F5344CB8AC3E}">
        <p14:creationId xmlns:p14="http://schemas.microsoft.com/office/powerpoint/2010/main" val="2509335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“DAX is the calculation engine of Power BI.</a:t>
            </a:r>
            <a:br>
              <a:rPr lang="en-US" dirty="0"/>
            </a:br>
            <a:r>
              <a:rPr lang="en-US" dirty="0"/>
              <a:t>It’s similar to Excel formulas but works on data models.”</a:t>
            </a:r>
          </a:p>
        </p:txBody>
      </p:sp>
    </p:spTree>
    <p:extLst>
      <p:ext uri="{BB962C8B-B14F-4D97-AF65-F5344CB8AC3E}">
        <p14:creationId xmlns:p14="http://schemas.microsoft.com/office/powerpoint/2010/main" val="38979968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“Measures are dynamic and preferred.</a:t>
            </a:r>
            <a:br>
              <a:rPr lang="en-US" dirty="0"/>
            </a:br>
            <a:r>
              <a:rPr lang="en-US" dirty="0"/>
              <a:t>Columns increase model size and should be avoided unless required.”</a:t>
            </a:r>
          </a:p>
        </p:txBody>
      </p:sp>
    </p:spTree>
    <p:extLst>
      <p:ext uri="{BB962C8B-B14F-4D97-AF65-F5344CB8AC3E}">
        <p14:creationId xmlns:p14="http://schemas.microsoft.com/office/powerpoint/2010/main" val="100588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“We’ll now see these measures in action using real data.”</a:t>
            </a:r>
          </a:p>
        </p:txBody>
      </p:sp>
    </p:spTree>
    <p:extLst>
      <p:ext uri="{BB962C8B-B14F-4D97-AF65-F5344CB8AC3E}">
        <p14:creationId xmlns:p14="http://schemas.microsoft.com/office/powerpoint/2010/main" val="544400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“CALCULATE modifies filter context.</a:t>
            </a:r>
            <a:br>
              <a:rPr lang="en-US" dirty="0"/>
            </a:br>
            <a:r>
              <a:rPr lang="en-US" dirty="0"/>
              <a:t>We won’t go deep now — this becomes very important in Phase-2.”</a:t>
            </a:r>
          </a:p>
        </p:txBody>
      </p:sp>
    </p:spTree>
    <p:extLst>
      <p:ext uri="{BB962C8B-B14F-4D97-AF65-F5344CB8AC3E}">
        <p14:creationId xmlns:p14="http://schemas.microsoft.com/office/powerpoint/2010/main" val="1419502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“Your dashboard should tell a story.</a:t>
            </a:r>
            <a:br>
              <a:rPr lang="en-US" dirty="0"/>
            </a:br>
            <a:r>
              <a:rPr lang="en-US" dirty="0"/>
              <a:t>One page, one message.”</a:t>
            </a:r>
          </a:p>
        </p:txBody>
      </p:sp>
    </p:spTree>
    <p:extLst>
      <p:ext uri="{BB962C8B-B14F-4D97-AF65-F5344CB8AC3E}">
        <p14:creationId xmlns:p14="http://schemas.microsoft.com/office/powerpoint/2010/main" val="3628421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“Publishing makes your work available to business users.</a:t>
            </a:r>
            <a:br>
              <a:rPr lang="en-US" dirty="0"/>
            </a:br>
            <a:r>
              <a:rPr lang="en-US" dirty="0"/>
              <a:t>Access control is very important.”</a:t>
            </a:r>
          </a:p>
        </p:txBody>
      </p:sp>
    </p:spTree>
    <p:extLst>
      <p:ext uri="{BB962C8B-B14F-4D97-AF65-F5344CB8AC3E}">
        <p14:creationId xmlns:p14="http://schemas.microsoft.com/office/powerpoint/2010/main" val="628182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“This phase builds your foundation.</a:t>
            </a:r>
            <a:br>
              <a:rPr lang="en-US" dirty="0"/>
            </a:br>
            <a:r>
              <a:rPr lang="en-US" dirty="0"/>
              <a:t>Next phase focuses on advanced DAX and modeling.”</a:t>
            </a:r>
          </a:p>
        </p:txBody>
      </p:sp>
    </p:spTree>
    <p:extLst>
      <p:ext uri="{BB962C8B-B14F-4D97-AF65-F5344CB8AC3E}">
        <p14:creationId xmlns:p14="http://schemas.microsoft.com/office/powerpoint/2010/main" val="3094087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“These mistakes come from real experience.</a:t>
            </a:r>
            <a:br>
              <a:rPr lang="en-US" dirty="0"/>
            </a:br>
            <a:r>
              <a:rPr lang="en-US" dirty="0"/>
              <a:t>Avoiding them will save you months.”</a:t>
            </a:r>
          </a:p>
        </p:txBody>
      </p:sp>
    </p:spTree>
    <p:extLst>
      <p:ext uri="{BB962C8B-B14F-4D97-AF65-F5344CB8AC3E}">
        <p14:creationId xmlns:p14="http://schemas.microsoft.com/office/powerpoint/2010/main" val="32068400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/>
              <a:t>“Now we’ll do a live demo and you’ll follow along step-by-step.”</a:t>
            </a:r>
          </a:p>
        </p:txBody>
      </p:sp>
    </p:spTree>
    <p:extLst>
      <p:ext uri="{BB962C8B-B14F-4D97-AF65-F5344CB8AC3E}">
        <p14:creationId xmlns:p14="http://schemas.microsoft.com/office/powerpoint/2010/main" val="1899110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t>Power BI Fundamentals – Level 1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55724BA-A16A-CAD3-7A3D-692C7EC9D32F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202C8F"/>
                </a:solidFill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t>Course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dirty="0"/>
              <a:t>• Understand BI concepts</a:t>
            </a:r>
          </a:p>
          <a:p>
            <a:r>
              <a:rPr dirty="0"/>
              <a:t>• Build Power BI reports</a:t>
            </a:r>
          </a:p>
          <a:p>
            <a:r>
              <a:rPr dirty="0"/>
              <a:t>• Create dashboards</a:t>
            </a:r>
          </a:p>
          <a:p>
            <a:r>
              <a:rPr dirty="0"/>
              <a:t>• Publish &amp; share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 Architecture: MIS → BI →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2834640"/>
            <a:ext cx="8712485" cy="3207344"/>
          </a:xfrm>
        </p:spPr>
        <p:txBody>
          <a:bodyPr>
            <a:normAutofit fontScale="92500" lnSpcReduction="10000"/>
          </a:bodyPr>
          <a:lstStyle/>
          <a:p>
            <a:r>
              <a:rPr sz="1600" dirty="0"/>
              <a:t>MIS Layer</a:t>
            </a:r>
          </a:p>
          <a:p>
            <a:r>
              <a:rPr sz="1600" dirty="0"/>
              <a:t>• Excel &amp; Manual Reports</a:t>
            </a:r>
          </a:p>
          <a:p>
            <a:endParaRPr sz="1600" dirty="0"/>
          </a:p>
          <a:p>
            <a:r>
              <a:rPr sz="1600" dirty="0"/>
              <a:t>BI Layer</a:t>
            </a:r>
          </a:p>
          <a:p>
            <a:r>
              <a:rPr sz="1600" dirty="0"/>
              <a:t>• Centralized Database / SQL</a:t>
            </a:r>
          </a:p>
          <a:p>
            <a:r>
              <a:rPr sz="1600" dirty="0"/>
              <a:t>• Data Modeling</a:t>
            </a:r>
          </a:p>
          <a:p>
            <a:endParaRPr sz="1600" dirty="0"/>
          </a:p>
          <a:p>
            <a:r>
              <a:rPr sz="1600" dirty="0"/>
              <a:t>Power BI Layer</a:t>
            </a:r>
          </a:p>
          <a:p>
            <a:r>
              <a:rPr sz="1600" dirty="0"/>
              <a:t>• Power BI Desktop</a:t>
            </a:r>
          </a:p>
          <a:p>
            <a:r>
              <a:rPr sz="1600" dirty="0"/>
              <a:t>• Dashboards &amp;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AED0F-CC01-6510-9FF1-9DC31438F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10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dirty="0"/>
              <a:t>What is Business Intelligence?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24F7B-D9C0-4807-1892-45D9BF9063A3}"/>
              </a:ext>
            </a:extLst>
          </p:cNvPr>
          <p:cNvSpPr txBox="1">
            <a:spLocks/>
          </p:cNvSpPr>
          <p:nvPr/>
        </p:nvSpPr>
        <p:spPr>
          <a:xfrm>
            <a:off x="10465117" y="42671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202C8F"/>
                </a:solidFill>
                <a:latin typeface="+mj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t>Why Power BI?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Microsoft BI tool</a:t>
            </a:r>
          </a:p>
          <a:p>
            <a:pPr marL="0" indent="0">
              <a:buNone/>
            </a:pPr>
            <a:r>
              <a:rPr sz="2400" dirty="0"/>
              <a:t>• Easy integration</a:t>
            </a:r>
          </a:p>
          <a:p>
            <a:pPr marL="0" indent="0">
              <a:buNone/>
            </a:pPr>
            <a:r>
              <a:rPr sz="2400" dirty="0"/>
              <a:t>• Strong visualization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t>Power BI Ecosystem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243158" y="4171309"/>
            <a:ext cx="5060861" cy="1123366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Power BI Desktop</a:t>
            </a:r>
            <a:endParaRPr lang="en-US" sz="240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Power BI Service</a:t>
            </a:r>
            <a:endParaRPr lang="en-US" sz="240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Power BI Mobile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EF4E7BD-1F74-A9BA-E88E-56BCDE54AC0A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t>Power BI Licenses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4398" y="2650733"/>
            <a:ext cx="3726181" cy="1335640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Free</a:t>
            </a:r>
            <a:endParaRPr lang="en-US" sz="240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Pro</a:t>
            </a:r>
            <a:endParaRPr lang="en-US" sz="240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sz="2400" dirty="0">
                <a:latin typeface="+mn-lt"/>
              </a:rPr>
              <a:t>• Premium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D1E387AA-9B37-D5F8-B16B-35FCDF31DCEA}"/>
              </a:ext>
            </a:extLst>
          </p:cNvPr>
          <p:cNvSpPr txBox="1">
            <a:spLocks/>
          </p:cNvSpPr>
          <p:nvPr/>
        </p:nvSpPr>
        <p:spPr>
          <a:xfrm>
            <a:off x="10358437" y="457199"/>
            <a:ext cx="1067589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t>Power BI Project Lifecycle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754630"/>
            <a:ext cx="3282950" cy="3692208"/>
          </a:xfrm>
        </p:spPr>
        <p:txBody>
          <a:bodyPr>
            <a:normAutofit/>
          </a:bodyPr>
          <a:lstStyle/>
          <a:p>
            <a:r>
              <a:rPr sz="2400" dirty="0"/>
              <a:t>• Requirement</a:t>
            </a:r>
          </a:p>
          <a:p>
            <a:r>
              <a:rPr sz="2400" dirty="0"/>
              <a:t>• Data</a:t>
            </a:r>
          </a:p>
          <a:p>
            <a:r>
              <a:rPr sz="2400" dirty="0"/>
              <a:t>• Model</a:t>
            </a:r>
          </a:p>
          <a:p>
            <a:r>
              <a:rPr sz="2400" dirty="0"/>
              <a:t>• Visuals</a:t>
            </a:r>
          </a:p>
          <a:p>
            <a:r>
              <a:rPr sz="2400" dirty="0"/>
              <a:t>• Publish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t>Data 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dirty="0"/>
              <a:t>• Excel</a:t>
            </a:r>
          </a:p>
          <a:p>
            <a:pPr>
              <a:lnSpc>
                <a:spcPct val="150000"/>
              </a:lnSpc>
            </a:pPr>
            <a:r>
              <a:rPr dirty="0"/>
              <a:t>• CSV</a:t>
            </a:r>
          </a:p>
          <a:p>
            <a:pPr>
              <a:lnSpc>
                <a:spcPct val="150000"/>
              </a:lnSpc>
            </a:pPr>
            <a:r>
              <a:rPr dirty="0"/>
              <a:t>• SQL</a:t>
            </a:r>
          </a:p>
          <a:p>
            <a:pPr>
              <a:lnSpc>
                <a:spcPct val="150000"/>
              </a:lnSpc>
            </a:pPr>
            <a:r>
              <a:rPr dirty="0"/>
              <a:t>• Web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dirty="0"/>
              <a:t>Power Query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sz="2400" dirty="0"/>
              <a:t>• Data cleaning</a:t>
            </a:r>
          </a:p>
          <a:p>
            <a:r>
              <a:rPr sz="2400" dirty="0"/>
              <a:t>• Transformation</a:t>
            </a:r>
          </a:p>
          <a:p>
            <a:r>
              <a:rPr sz="2400" dirty="0"/>
              <a:t>• Automation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dirty="0"/>
              <a:t>Common Data Issues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9"/>
            <a:ext cx="5829147" cy="29433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Blanks</a:t>
            </a:r>
          </a:p>
          <a:p>
            <a:pPr marL="0" indent="0">
              <a:buNone/>
            </a:pPr>
            <a:r>
              <a:rPr sz="2400" dirty="0"/>
              <a:t>• Duplicates</a:t>
            </a:r>
          </a:p>
          <a:p>
            <a:pPr marL="0" indent="0">
              <a:buNone/>
            </a:pPr>
            <a:r>
              <a:rPr sz="2400" dirty="0"/>
              <a:t>• Wrong data types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7330" y="1057274"/>
            <a:ext cx="9928697" cy="1012785"/>
          </a:xfrm>
        </p:spPr>
        <p:txBody>
          <a:bodyPr/>
          <a:lstStyle/>
          <a:p>
            <a:pPr algn="l"/>
            <a:r>
              <a:rPr dirty="0"/>
              <a:t>Merge vs Append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F5873F1-D47F-62B0-F41E-1B0944A7D0CE}"/>
              </a:ext>
            </a:extLst>
          </p:cNvPr>
          <p:cNvSpPr txBox="1">
            <a:spLocks/>
          </p:cNvSpPr>
          <p:nvPr/>
        </p:nvSpPr>
        <p:spPr>
          <a:xfrm>
            <a:off x="10438475" y="457199"/>
            <a:ext cx="987552" cy="47148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600" kern="1200">
                <a:solidFill>
                  <a:schemeClr val="accent6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12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C38F3A9-0A15-D59E-6954-D86E191D6558}"/>
              </a:ext>
            </a:extLst>
          </p:cNvPr>
          <p:cNvSpPr txBox="1">
            <a:spLocks/>
          </p:cNvSpPr>
          <p:nvPr/>
        </p:nvSpPr>
        <p:spPr>
          <a:xfrm>
            <a:off x="1497330" y="2297198"/>
            <a:ext cx="5829147" cy="2943342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• Append = Stack data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/>
              <a:t>• Merge = Join data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5715000" cy="1447648"/>
          </a:xfrm>
        </p:spPr>
        <p:txBody>
          <a:bodyPr/>
          <a:lstStyle/>
          <a:p>
            <a:r>
              <a:rPr dirty="0"/>
              <a:t>Data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2864916"/>
            <a:ext cx="5715000" cy="223464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/>
              <a:t>• Relationships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/>
              <a:t>• Performance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/>
              <a:t>• Accuracy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6B1BC8C-CE7D-32D6-1360-69DAE1AC3CD1}"/>
              </a:ext>
            </a:extLst>
          </p:cNvPr>
          <p:cNvSpPr txBox="1">
            <a:spLocks/>
          </p:cNvSpPr>
          <p:nvPr/>
        </p:nvSpPr>
        <p:spPr>
          <a:xfrm>
            <a:off x="10529915" y="534027"/>
            <a:ext cx="987552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202C8F"/>
                </a:solidFill>
                <a:latin typeface="Arial Black" panose="020B0A040201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19B4-F81B-04C1-FD8B-F2D59BEA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&amp; Dimension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739989-F729-22E9-4971-7D04863948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14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EB8D-D034-667A-2360-84E9E2F26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5634990" cy="1673071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/>
              <a:t>Fact Table</a:t>
            </a:r>
            <a:endParaRPr lang="en-US" sz="2800" dirty="0"/>
          </a:p>
          <a:p>
            <a:pPr marL="626364" lvl="1" indent="-342900"/>
            <a:r>
              <a:rPr lang="en-US" sz="2000" dirty="0"/>
              <a:t>S</a:t>
            </a:r>
            <a:r>
              <a:rPr sz="2000" dirty="0"/>
              <a:t>ales, quantity, amount</a:t>
            </a:r>
            <a:endParaRPr lang="en-US" sz="2000" dirty="0"/>
          </a:p>
          <a:p>
            <a:pPr marL="626364" lvl="1" indent="-342900"/>
            <a:r>
              <a:rPr lang="en-US" sz="2000" dirty="0"/>
              <a:t>Transactions</a:t>
            </a:r>
            <a:endParaRPr sz="2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045C4C-9F14-E62B-3CE2-0AF780206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4463299"/>
            <a:ext cx="5634990" cy="1274562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800" dirty="0"/>
              <a:t>Dimension Table</a:t>
            </a:r>
            <a:endParaRPr lang="en-US" sz="2800" dirty="0"/>
          </a:p>
          <a:p>
            <a:pPr marL="626364" lvl="3" indent="-342900"/>
            <a:r>
              <a:rPr lang="en-US" sz="2000" dirty="0"/>
              <a:t>P</a:t>
            </a:r>
            <a:r>
              <a:rPr sz="2000" dirty="0"/>
              <a:t>roduct, Customer, Date, Region</a:t>
            </a:r>
          </a:p>
        </p:txBody>
      </p:sp>
    </p:spTree>
    <p:extLst>
      <p:ext uri="{BB962C8B-B14F-4D97-AF65-F5344CB8AC3E}">
        <p14:creationId xmlns:p14="http://schemas.microsoft.com/office/powerpoint/2010/main" val="3413344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6C6A-8A25-45C3-2D27-CAAB4862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25BE0-9A3E-6EB6-233C-B7D4B602F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15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058280-F279-9E29-91D9-000470FE58D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14400" y="2579825"/>
            <a:ext cx="5181600" cy="169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One-to-Many (most common)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D</a:t>
            </a:r>
            <a:r>
              <a:rPr sz="2400" dirty="0"/>
              <a:t>irection matters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A</a:t>
            </a:r>
            <a:r>
              <a:rPr sz="2400" dirty="0"/>
              <a:t>void many-to-many initially</a:t>
            </a:r>
          </a:p>
        </p:txBody>
      </p:sp>
    </p:spTree>
    <p:extLst>
      <p:ext uri="{BB962C8B-B14F-4D97-AF65-F5344CB8AC3E}">
        <p14:creationId xmlns:p14="http://schemas.microsoft.com/office/powerpoint/2010/main" val="2243018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8DA2-D625-6549-4606-5BC3F04B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2544147"/>
            <a:ext cx="7043617" cy="830997"/>
          </a:xfrm>
        </p:spPr>
        <p:txBody>
          <a:bodyPr/>
          <a:lstStyle/>
          <a:p>
            <a:pPr algn="ctr"/>
            <a:r>
              <a:rPr dirty="0"/>
              <a:t>DAX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FDA90D-1919-2E9F-C1DE-E7FA57E86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16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C0F11B-6487-ECCE-A7C5-C4F434351415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4364808" y="4509868"/>
            <a:ext cx="77930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dirty="0"/>
              <a:t>Data Analysis Expressions</a:t>
            </a:r>
            <a:r>
              <a:rPr lang="en-US" dirty="0"/>
              <a:t> </a:t>
            </a:r>
            <a:r>
              <a:rPr dirty="0"/>
              <a:t>Formula language for Power BI</a:t>
            </a:r>
          </a:p>
          <a:p>
            <a:r>
              <a:rPr dirty="0"/>
              <a:t>Used for calculations and KPIs</a:t>
            </a:r>
          </a:p>
        </p:txBody>
      </p:sp>
    </p:spTree>
    <p:extLst>
      <p:ext uri="{BB962C8B-B14F-4D97-AF65-F5344CB8AC3E}">
        <p14:creationId xmlns:p14="http://schemas.microsoft.com/office/powerpoint/2010/main" val="148816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3F9A6-A984-90FD-B9E0-66FEC3D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 vs Measure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E34F3-1BC6-5B7A-97A6-30F71E922E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914650"/>
            <a:ext cx="5661766" cy="312157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Calculated Column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Row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Stored in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Measure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/>
              <a:t>Calculated at run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46BCD-57F8-80D3-653B-D40AD2CC9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56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6754-D4EF-09EA-4DF1-4A72F1440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140" y="2474840"/>
            <a:ext cx="6545416" cy="994164"/>
          </a:xfrm>
        </p:spPr>
        <p:txBody>
          <a:bodyPr/>
          <a:lstStyle/>
          <a:p>
            <a:r>
              <a:rPr dirty="0"/>
              <a:t>Basic DAX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5C8C4-C694-EC2E-E9CF-44C3495BA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18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6E8CF8-0CC2-3829-FD47-3881691FB7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06140" y="4465932"/>
            <a:ext cx="654541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Total Sales = SUM(Sales[</a:t>
            </a:r>
            <a:r>
              <a:rPr sz="2400" dirty="0" err="1"/>
              <a:t>SalesAmount</a:t>
            </a:r>
            <a:r>
              <a:rPr sz="2400" dirty="0"/>
              <a:t>])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T</a:t>
            </a:r>
            <a:r>
              <a:rPr sz="2400" dirty="0"/>
              <a:t>otal Orders = COUNT(Sales[</a:t>
            </a:r>
            <a:r>
              <a:rPr sz="2400" dirty="0" err="1"/>
              <a:t>OrderID</a:t>
            </a:r>
            <a:r>
              <a:rPr sz="2400" dirty="0"/>
              <a:t>])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A</a:t>
            </a:r>
            <a:r>
              <a:rPr sz="2400" dirty="0"/>
              <a:t>vg Sales = AVERAGE(Sales[</a:t>
            </a:r>
            <a:r>
              <a:rPr sz="2400" dirty="0" err="1"/>
              <a:t>SalesAmount</a:t>
            </a:r>
            <a:r>
              <a:rPr sz="24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470712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6B5C5-B123-1B7D-0DE3-2A7B7A68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What is CALCULATE?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E306D-B5BA-6AB7-14C0-DD8CB1C7F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t>19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00C0C6-2196-A25F-7284-EFF8E3B05EA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14400" y="3005290"/>
            <a:ext cx="5244064" cy="169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Modifies filter context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Most powerful DAX function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Used in almost every advanced report</a:t>
            </a:r>
          </a:p>
        </p:txBody>
      </p:sp>
    </p:spTree>
    <p:extLst>
      <p:ext uri="{BB962C8B-B14F-4D97-AF65-F5344CB8AC3E}">
        <p14:creationId xmlns:p14="http://schemas.microsoft.com/office/powerpoint/2010/main" val="4205317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2AD8-7834-6D56-9474-4CEAC508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 Best Practices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A01E6-1246-A3E5-642F-3242DAF36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dirty="0"/>
              <a:t>20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719368C-69E3-445C-E049-6F1FC68BAC6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0564" y="3157651"/>
            <a:ext cx="5821786" cy="2252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Avoid clutter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One page = one story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Use slicers wisely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dirty="0"/>
              <a:t> </a:t>
            </a:r>
            <a:r>
              <a:rPr sz="2400" dirty="0"/>
              <a:t>Follow consistent color theme</a:t>
            </a:r>
          </a:p>
        </p:txBody>
      </p:sp>
    </p:spTree>
    <p:extLst>
      <p:ext uri="{BB962C8B-B14F-4D97-AF65-F5344CB8AC3E}">
        <p14:creationId xmlns:p14="http://schemas.microsoft.com/office/powerpoint/2010/main" val="677367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3FE-AE10-D49D-729E-A56B7F2E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Publishing Reports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67CD6-1046-4A53-1C4F-D79029549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dirty="0"/>
              <a:t>21</a:t>
            </a:r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ADF56C-41BD-004D-077F-C4E1EE19BB94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914400" y="3189718"/>
            <a:ext cx="7120890" cy="2252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sz="2400" dirty="0"/>
              <a:t>Create workspace</a:t>
            </a:r>
            <a:endParaRPr lang="en-US" sz="2400" dirty="0"/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sz="2400" dirty="0"/>
              <a:t>Publish from Desktop to Service</a:t>
            </a:r>
            <a:endParaRPr lang="en-US" sz="2400" dirty="0"/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sz="2400" dirty="0"/>
              <a:t>Share with users</a:t>
            </a:r>
            <a:endParaRPr lang="en-US" sz="2400" dirty="0"/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sz="2400" dirty="0"/>
              <a:t>Control access</a:t>
            </a:r>
          </a:p>
        </p:txBody>
      </p:sp>
    </p:spTree>
    <p:extLst>
      <p:ext uri="{BB962C8B-B14F-4D97-AF65-F5344CB8AC3E}">
        <p14:creationId xmlns:p14="http://schemas.microsoft.com/office/powerpoint/2010/main" val="444956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B8C3-1C16-347A-7DEC-E7C257770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3"/>
            <a:ext cx="5715000" cy="1287628"/>
          </a:xfrm>
        </p:spPr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4CCD441-AC3E-48C2-9CE2-02C08A9A79E7}"/>
              </a:ext>
            </a:extLst>
          </p:cNvPr>
          <p:cNvSpPr txBox="1">
            <a:spLocks/>
          </p:cNvSpPr>
          <p:nvPr/>
        </p:nvSpPr>
        <p:spPr>
          <a:xfrm>
            <a:off x="10442257" y="530692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202C8F"/>
                </a:solidFill>
                <a:latin typeface="Arial Black" panose="020B0A04020102020204" pitchFamily="34" charset="0"/>
              </a:rPr>
              <a:t>22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FDA91F4-125B-29AE-C922-361364CBE39C}"/>
              </a:ext>
            </a:extLst>
          </p:cNvPr>
          <p:cNvSpPr txBox="1">
            <a:spLocks/>
          </p:cNvSpPr>
          <p:nvPr/>
        </p:nvSpPr>
        <p:spPr>
          <a:xfrm>
            <a:off x="914401" y="2800874"/>
            <a:ext cx="6583680" cy="3207344"/>
          </a:xfrm>
          <a:prstGeom prst="rect">
            <a:avLst/>
          </a:prstGeom>
        </p:spPr>
        <p:txBody>
          <a:bodyPr vert="horz" lIns="91440" tIns="0" rIns="9144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76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• Data import &amp; cleaning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• Data modeling basics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• DAX fundamentals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• Visual design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dirty="0"/>
              <a:t>• Publishing &amp; sharing</a:t>
            </a:r>
          </a:p>
        </p:txBody>
      </p:sp>
    </p:spTree>
    <p:extLst>
      <p:ext uri="{BB962C8B-B14F-4D97-AF65-F5344CB8AC3E}">
        <p14:creationId xmlns:p14="http://schemas.microsoft.com/office/powerpoint/2010/main" val="177253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5"/>
            <a:ext cx="6583680" cy="1274446"/>
          </a:xfrm>
        </p:spPr>
        <p:txBody>
          <a:bodyPr/>
          <a:lstStyle/>
          <a:p>
            <a:r>
              <a:rPr dirty="0"/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Skipping data cleaning</a:t>
            </a:r>
          </a:p>
          <a:p>
            <a:r>
              <a:rPr dirty="0"/>
              <a:t>• Too many visuals on one page</a:t>
            </a:r>
          </a:p>
          <a:p>
            <a:r>
              <a:rPr dirty="0"/>
              <a:t>• Using columns instead of measures</a:t>
            </a:r>
          </a:p>
          <a:p>
            <a:r>
              <a:rPr dirty="0"/>
              <a:t>• Poor relationships</a:t>
            </a:r>
          </a:p>
          <a:p>
            <a:r>
              <a:rPr dirty="0"/>
              <a:t>• Ignoring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CE7D6-7D81-B9D1-BC24-2B59B5190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45769"/>
            <a:ext cx="1067589" cy="471489"/>
          </a:xfrm>
        </p:spPr>
        <p:txBody>
          <a:bodyPr/>
          <a:lstStyle/>
          <a:p>
            <a:r>
              <a:rPr dirty="0"/>
              <a:t>2</a:t>
            </a:r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EBBE-C769-3FAB-7EB8-CC9E4A9CB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79" y="3310333"/>
            <a:ext cx="10671048" cy="1362057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1CAB4-359E-E07B-8D29-C44AA643B317}"/>
              </a:ext>
            </a:extLst>
          </p:cNvPr>
          <p:cNvSpPr txBox="1">
            <a:spLocks/>
          </p:cNvSpPr>
          <p:nvPr/>
        </p:nvSpPr>
        <p:spPr>
          <a:xfrm>
            <a:off x="10449877" y="502919"/>
            <a:ext cx="1067589" cy="47148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202C8F"/>
                </a:solidFill>
                <a:latin typeface="Arial Black" panose="020B0A04020102020204" pitchFamily="34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90306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(Trainer Session)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Demo Coverage:</a:t>
            </a:r>
          </a:p>
          <a:p>
            <a:r>
              <a:rPr dirty="0"/>
              <a:t>• Import Excel data</a:t>
            </a:r>
          </a:p>
          <a:p>
            <a:r>
              <a:rPr dirty="0"/>
              <a:t>• Clean data using Power Query</a:t>
            </a:r>
          </a:p>
          <a:p>
            <a:r>
              <a:rPr dirty="0"/>
              <a:t>• Create basic DAX measures</a:t>
            </a:r>
          </a:p>
          <a:p>
            <a:r>
              <a:rPr dirty="0"/>
              <a:t>• Build a simple dashboard</a:t>
            </a:r>
          </a:p>
          <a:p>
            <a:endParaRPr dirty="0"/>
          </a:p>
          <a:p>
            <a:r>
              <a:rPr dirty="0"/>
              <a:t>Participants follow along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{F310C805-02FA-401C-B4B2-EDDE9DFF3543}TF8a9b5915-b8c7-461e-8cdd-693d48b5e32371f7b7e2_win32-4bf0b9a2ea37</Template>
  <TotalTime>157</TotalTime>
  <Words>961</Words>
  <Application>Microsoft Office PowerPoint</Application>
  <PresentationFormat>Widescreen</PresentationFormat>
  <Paragraphs>162</Paragraphs>
  <Slides>25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Arial Black</vt:lpstr>
      <vt:lpstr>Calibri</vt:lpstr>
      <vt:lpstr>Sabon Next LT</vt:lpstr>
      <vt:lpstr>Custom</vt:lpstr>
      <vt:lpstr>Power BI Fundamentals – Level 1</vt:lpstr>
      <vt:lpstr>Course Objectives</vt:lpstr>
      <vt:lpstr>BI Architecture: MIS → BI → Power BI</vt:lpstr>
      <vt:lpstr>What is Business Intelligence?</vt:lpstr>
      <vt:lpstr>Why Power BI?</vt:lpstr>
      <vt:lpstr>Power BI Ecosystem</vt:lpstr>
      <vt:lpstr>Power BI Licenses</vt:lpstr>
      <vt:lpstr>Power BI Project Lifecycle</vt:lpstr>
      <vt:lpstr>Data Sources</vt:lpstr>
      <vt:lpstr>Power Query</vt:lpstr>
      <vt:lpstr>Common Data Issues</vt:lpstr>
      <vt:lpstr>Merge vs Append</vt:lpstr>
      <vt:lpstr>Data Modeling</vt:lpstr>
      <vt:lpstr>Fact &amp; Dimension Tables</vt:lpstr>
      <vt:lpstr>Relationships</vt:lpstr>
      <vt:lpstr>DAX</vt:lpstr>
      <vt:lpstr>Calculated Column vs Measure</vt:lpstr>
      <vt:lpstr>Basic DAX Examples</vt:lpstr>
      <vt:lpstr>What is CALCULATE?</vt:lpstr>
      <vt:lpstr>Visual Best Practices</vt:lpstr>
      <vt:lpstr>Publishing Reports</vt:lpstr>
      <vt:lpstr>Summary</vt:lpstr>
      <vt:lpstr>Common Beginner Mistakes</vt:lpstr>
      <vt:lpstr>Thank You</vt:lpstr>
      <vt:lpstr>Live Demo (Trainer Session)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Parab</dc:creator>
  <cp:lastModifiedBy>Sagar Parab</cp:lastModifiedBy>
  <cp:revision>18</cp:revision>
  <dcterms:created xsi:type="dcterms:W3CDTF">2025-12-30T08:17:02Z</dcterms:created>
  <dcterms:modified xsi:type="dcterms:W3CDTF">2025-12-30T11:23:32Z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